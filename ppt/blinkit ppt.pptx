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6858000" cy="9144000"/>
  <p:embeddedFontLst>
    <p:embeddedFont>
      <p:font typeface="Crimson Text" panose="020B0604020202020204" charset="0"/>
      <p:regular r:id="rId13"/>
      <p:bold r:id="rId14"/>
      <p:italic r:id="rId15"/>
      <p:boldItalic r:id="rId16"/>
    </p:embeddedFont>
    <p:embeddedFont>
      <p:font typeface="Lato" panose="020B0604020202020204" charset="0"/>
      <p:regular r:id="rId17"/>
      <p:bold r:id="rId18"/>
      <p:italic r:id="rId19"/>
      <p:boldItalic r:id="rId20"/>
    </p:embeddedFont>
    <p:embeddedFont>
      <p:font typeface="Montserrat" panose="020B0604020202020204" charset="0"/>
      <p:regular r:id="rId21"/>
      <p:bold r:id="rId22"/>
      <p:italic r:id="rId23"/>
      <p:boldItalic r:id="rId24"/>
    </p:embeddedFont>
    <p:embeddedFont>
      <p:font typeface="Vidaloka" panose="020B0604020202020204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E9E7BE-E1F2-4510-8D0E-B0C4EF186984}">
  <a:tblStyle styleId="{5FE9E7BE-E1F2-4510-8D0E-B0C4EF1869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11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cc7554a049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cc7554a049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cf7a3c503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cf7a3c503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291400" y="3305275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SECTION_TITLE_AND_DESCRIPTION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18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41" name="Google Shape;141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4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>
            <a:spLocks noGrp="1"/>
          </p:cNvSpPr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ubTitle" idx="1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46" name="Google Shape;146;p2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p2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p2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49;p2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50;p2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5" r:id="rId4"/>
    <p:sldLayoutId id="2147483658" r:id="rId5"/>
    <p:sldLayoutId id="2147483659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97" r:id="rId13"/>
    <p:sldLayoutId id="2147483698" r:id="rId14"/>
    <p:sldLayoutId id="2147483699" r:id="rId15"/>
    <p:sldLayoutId id="2147483700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1039950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5400" dirty="0" err="1">
                <a:latin typeface="+mj-lt"/>
              </a:rPr>
              <a:t>Blinkit</a:t>
            </a:r>
            <a:r>
              <a:rPr lang="en-IN" sz="5400" dirty="0">
                <a:latin typeface="+mj-lt"/>
              </a:rPr>
              <a:t> Sales Performance Analysis</a:t>
            </a:r>
            <a:endParaRPr sz="5400" dirty="0">
              <a:latin typeface="+mj-lt"/>
            </a:endParaRPr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>
                <a:latin typeface="+mj-lt"/>
              </a:rPr>
              <a:t>Data-Driven Insights into Grocery Trends and Outlet Efficiency</a:t>
            </a:r>
            <a:endParaRPr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2787" y="705136"/>
            <a:ext cx="7023518" cy="8950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+mj-lt"/>
              </a:rPr>
              <a:t>Executive Summary (Key Performance Indicators)</a:t>
            </a:r>
            <a:br>
              <a:rPr lang="en-US" sz="2400" b="1" dirty="0">
                <a:latin typeface="+mj-lt"/>
              </a:rPr>
            </a:br>
            <a:br>
              <a:rPr lang="en-US" sz="2400" b="1" dirty="0">
                <a:latin typeface="+mj-lt"/>
              </a:rPr>
            </a:br>
            <a:r>
              <a:rPr lang="en-US" sz="1800" dirty="0">
                <a:latin typeface="+mj-lt"/>
              </a:rPr>
              <a:t>Strong Revenue Performance with healthy Margins.</a:t>
            </a:r>
            <a:endParaRPr sz="2400" dirty="0">
              <a:latin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3CF813-392D-4E23-A93D-FF765DE56E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8205" y="2324993"/>
            <a:ext cx="410271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Total Revenue: 18.59M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Average MRP: 140.99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Profit Margin: 14.47%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Average Sales per Item: 2.18K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Total Outlets Analyzed: 8,523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/>
          <p:cNvSpPr txBox="1">
            <a:spLocks noGrp="1"/>
          </p:cNvSpPr>
          <p:nvPr>
            <p:ph type="title"/>
          </p:nvPr>
        </p:nvSpPr>
        <p:spPr>
          <a:xfrm>
            <a:off x="713224" y="390596"/>
            <a:ext cx="84307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latin typeface="+mj-lt"/>
              </a:rPr>
              <a:t>Top Performing Product Categories</a:t>
            </a:r>
            <a:endParaRPr sz="2800" dirty="0">
              <a:latin typeface="+mj-lt"/>
            </a:endParaRPr>
          </a:p>
        </p:txBody>
      </p:sp>
      <p:sp>
        <p:nvSpPr>
          <p:cNvPr id="503" name="Google Shape;503;p62"/>
          <p:cNvSpPr txBox="1">
            <a:spLocks noGrp="1"/>
          </p:cNvSpPr>
          <p:nvPr>
            <p:ph type="subTitle" idx="2"/>
          </p:nvPr>
        </p:nvSpPr>
        <p:spPr>
          <a:xfrm>
            <a:off x="5001000" y="1969423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+mj-lt"/>
              </a:rPr>
              <a:t>Soft Drinks</a:t>
            </a:r>
            <a:r>
              <a:rPr lang="en-US" dirty="0">
                <a:latin typeface="+mj-lt"/>
              </a:rPr>
              <a:t> follow at </a:t>
            </a:r>
            <a:r>
              <a:rPr lang="en-US" b="1" dirty="0">
                <a:latin typeface="+mj-lt"/>
              </a:rPr>
              <a:t>0.9M</a:t>
            </a:r>
            <a:r>
              <a:rPr lang="en-US" dirty="0">
                <a:latin typeface="+mj-lt"/>
              </a:rPr>
              <a:t>.</a:t>
            </a:r>
            <a:endParaRPr dirty="0">
              <a:latin typeface="+mj-lt"/>
            </a:endParaRPr>
          </a:p>
        </p:txBody>
      </p:sp>
      <p:sp>
        <p:nvSpPr>
          <p:cNvPr id="504" name="Google Shape;504;p62"/>
          <p:cNvSpPr txBox="1">
            <a:spLocks noGrp="1"/>
          </p:cNvSpPr>
          <p:nvPr>
            <p:ph type="subTitle" idx="4"/>
          </p:nvPr>
        </p:nvSpPr>
        <p:spPr>
          <a:xfrm>
            <a:off x="1723325" y="19429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+mj-lt"/>
              </a:rPr>
              <a:t>Snack Foods</a:t>
            </a:r>
            <a:r>
              <a:rPr lang="en-US" dirty="0">
                <a:latin typeface="+mj-lt"/>
              </a:rPr>
              <a:t> is the clear leader, contributing </a:t>
            </a:r>
            <a:r>
              <a:rPr lang="en-US" b="1" dirty="0">
                <a:latin typeface="+mj-lt"/>
              </a:rPr>
              <a:t>2.7M</a:t>
            </a:r>
            <a:r>
              <a:rPr lang="en-US" dirty="0">
                <a:latin typeface="+mj-lt"/>
              </a:rPr>
              <a:t> in sales.</a:t>
            </a:r>
            <a:endParaRPr dirty="0">
              <a:latin typeface="+mj-lt"/>
            </a:endParaRPr>
          </a:p>
        </p:txBody>
      </p:sp>
      <p:sp>
        <p:nvSpPr>
          <p:cNvPr id="508" name="Google Shape;508;p62"/>
          <p:cNvSpPr txBox="1">
            <a:spLocks noGrp="1"/>
          </p:cNvSpPr>
          <p:nvPr>
            <p:ph type="subTitle" idx="8"/>
          </p:nvPr>
        </p:nvSpPr>
        <p:spPr>
          <a:xfrm>
            <a:off x="3485975" y="358373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+mj-lt"/>
              </a:rPr>
              <a:t>Seafood</a:t>
            </a:r>
            <a:r>
              <a:rPr lang="en-US" dirty="0">
                <a:latin typeface="+mj-lt"/>
              </a:rPr>
              <a:t> represents the lowest volume among the top 5 at </a:t>
            </a:r>
            <a:r>
              <a:rPr lang="en-US" b="1" dirty="0">
                <a:latin typeface="+mj-lt"/>
              </a:rPr>
              <a:t>0.1M</a:t>
            </a:r>
            <a:r>
              <a:rPr lang="en-US" dirty="0">
                <a:latin typeface="+mj-lt"/>
              </a:rPr>
              <a:t>.</a:t>
            </a:r>
            <a:endParaRPr dirty="0">
              <a:latin typeface="+mj-lt"/>
            </a:endParaRPr>
          </a:p>
        </p:txBody>
      </p:sp>
      <p:sp>
        <p:nvSpPr>
          <p:cNvPr id="509" name="Google Shape;509;p62"/>
          <p:cNvSpPr txBox="1">
            <a:spLocks noGrp="1"/>
          </p:cNvSpPr>
          <p:nvPr>
            <p:ph type="title" idx="9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+mj-lt"/>
              </a:rPr>
              <a:t>01</a:t>
            </a:r>
            <a:endParaRPr>
              <a:latin typeface="+mj-lt"/>
            </a:endParaRPr>
          </a:p>
        </p:txBody>
      </p:sp>
      <p:sp>
        <p:nvSpPr>
          <p:cNvPr id="510" name="Google Shape;510;p62"/>
          <p:cNvSpPr txBox="1">
            <a:spLocks noGrp="1"/>
          </p:cNvSpPr>
          <p:nvPr>
            <p:ph type="title" idx="13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+mj-lt"/>
              </a:rPr>
              <a:t>02</a:t>
            </a:r>
            <a:endParaRPr>
              <a:latin typeface="+mj-lt"/>
            </a:endParaRPr>
          </a:p>
        </p:txBody>
      </p:sp>
      <p:sp>
        <p:nvSpPr>
          <p:cNvPr id="511" name="Google Shape;511;p62"/>
          <p:cNvSpPr txBox="1">
            <a:spLocks noGrp="1"/>
          </p:cNvSpPr>
          <p:nvPr>
            <p:ph type="title" idx="14"/>
          </p:nvPr>
        </p:nvSpPr>
        <p:spPr>
          <a:xfrm>
            <a:off x="4209425" y="2832837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+mj-lt"/>
              </a:rPr>
              <a:t>03</a:t>
            </a:r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4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latin typeface="+mj-lt"/>
              </a:rPr>
              <a:t>Insights:</a:t>
            </a:r>
            <a:r>
              <a:rPr lang="en-US" dirty="0">
                <a:latin typeface="+mj-lt"/>
              </a:rPr>
              <a:t> Snacks and Soft Drinks account for the lion's share of volume, suggesting </a:t>
            </a:r>
            <a:r>
              <a:rPr lang="en-US" dirty="0" err="1">
                <a:latin typeface="+mj-lt"/>
              </a:rPr>
              <a:t>Blinkit</a:t>
            </a:r>
            <a:r>
              <a:rPr lang="en-US" dirty="0">
                <a:latin typeface="+mj-lt"/>
              </a:rPr>
              <a:t> is a go-to for "instant gratification" or impulse purchases.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5"/>
          <p:cNvSpPr txBox="1">
            <a:spLocks noGrp="1"/>
          </p:cNvSpPr>
          <p:nvPr>
            <p:ph type="subTitle" idx="1"/>
          </p:nvPr>
        </p:nvSpPr>
        <p:spPr>
          <a:xfrm>
            <a:off x="1361636" y="590195"/>
            <a:ext cx="5458200" cy="33532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b="1" dirty="0">
                <a:latin typeface="+mj-lt"/>
              </a:rPr>
              <a:t>Pricing Strategy Analysis</a:t>
            </a:r>
          </a:p>
          <a:p>
            <a:endParaRPr lang="en-US" sz="2800" b="1" dirty="0">
              <a:latin typeface="+mj-lt"/>
            </a:endParaRPr>
          </a:p>
          <a:p>
            <a:endParaRPr lang="en-US" sz="1800" b="1" dirty="0">
              <a:latin typeface="+mj-lt"/>
            </a:endParaRPr>
          </a:p>
          <a:p>
            <a:r>
              <a:rPr lang="en-US" sz="1600" b="1" dirty="0">
                <a:latin typeface="+mj-lt"/>
              </a:rPr>
              <a:t>Key Data Points:</a:t>
            </a:r>
            <a:endParaRPr lang="en-US" sz="1600" dirty="0">
              <a:latin typeface="+mj-lt"/>
            </a:endParaRPr>
          </a:p>
          <a:p>
            <a:r>
              <a:rPr lang="en-US" sz="1200" b="1" dirty="0">
                <a:latin typeface="+mj-lt"/>
              </a:rPr>
              <a:t>Starchy Foods</a:t>
            </a:r>
            <a:r>
              <a:rPr lang="en-US" sz="1200" dirty="0">
                <a:latin typeface="+mj-lt"/>
              </a:rPr>
              <a:t> have the highest average MRP </a:t>
            </a:r>
            <a:r>
              <a:rPr lang="en-US" sz="1200" b="1" dirty="0">
                <a:latin typeface="+mj-lt"/>
              </a:rPr>
              <a:t>148</a:t>
            </a:r>
            <a:r>
              <a:rPr lang="en-US" sz="1200" dirty="0">
                <a:latin typeface="+mj-lt"/>
              </a:rPr>
              <a:t>.</a:t>
            </a:r>
          </a:p>
          <a:p>
            <a:r>
              <a:rPr lang="en-US" sz="1200" b="1" dirty="0">
                <a:latin typeface="+mj-lt"/>
              </a:rPr>
              <a:t>Snack Foods</a:t>
            </a:r>
            <a:r>
              <a:rPr lang="en-US" sz="1200" dirty="0">
                <a:latin typeface="+mj-lt"/>
              </a:rPr>
              <a:t> follow closely at </a:t>
            </a:r>
            <a:r>
              <a:rPr lang="en-US" sz="1200" b="1" dirty="0">
                <a:latin typeface="+mj-lt"/>
              </a:rPr>
              <a:t>146</a:t>
            </a:r>
            <a:r>
              <a:rPr lang="en-US" sz="1200" dirty="0">
                <a:latin typeface="+mj-lt"/>
              </a:rPr>
              <a:t>.</a:t>
            </a:r>
          </a:p>
          <a:p>
            <a:r>
              <a:rPr lang="en-US" sz="1200" b="1" dirty="0">
                <a:latin typeface="+mj-lt"/>
              </a:rPr>
              <a:t>Soft Drinks</a:t>
            </a:r>
            <a:r>
              <a:rPr lang="en-US" sz="1200" dirty="0">
                <a:latin typeface="+mj-lt"/>
              </a:rPr>
              <a:t> have the lowest average MRP among leaders at </a:t>
            </a:r>
            <a:r>
              <a:rPr lang="en-US" sz="1200" b="1" dirty="0">
                <a:latin typeface="+mj-lt"/>
              </a:rPr>
              <a:t>131</a:t>
            </a:r>
            <a:r>
              <a:rPr lang="en-US" sz="1200" dirty="0">
                <a:latin typeface="+mj-lt"/>
              </a:rPr>
              <a:t>.</a:t>
            </a:r>
          </a:p>
          <a:p>
            <a:pPr lvl="1"/>
            <a:endParaRPr lang="en-US" sz="1200" dirty="0">
              <a:latin typeface="+mj-lt"/>
            </a:endParaRPr>
          </a:p>
          <a:p>
            <a:r>
              <a:rPr lang="en-US" sz="1400" b="1" dirty="0">
                <a:latin typeface="+mj-lt"/>
              </a:rPr>
              <a:t>Observation:</a:t>
            </a:r>
            <a:r>
              <a:rPr lang="en-US" sz="1400" dirty="0">
                <a:latin typeface="+mj-lt"/>
              </a:rPr>
              <a:t> High-volume items (Snacks) also maintain a high average price point, which is a major driver of the 18.59M total revenue.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"/>
          <p:cNvSpPr txBox="1">
            <a:spLocks noGrp="1"/>
          </p:cNvSpPr>
          <p:nvPr>
            <p:ph type="subTitle" idx="1"/>
          </p:nvPr>
        </p:nvSpPr>
        <p:spPr>
          <a:xfrm>
            <a:off x="713224" y="1575475"/>
            <a:ext cx="6406033" cy="31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Chart Focus:</a:t>
            </a:r>
            <a:r>
              <a:rPr lang="en-US" dirty="0">
                <a:latin typeface="+mj-lt"/>
              </a:rPr>
              <a:t> Fat Content Distribution (Pie Chart)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Key Data Points:</a:t>
            </a:r>
            <a:endParaRPr lang="en-US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Low Fat:</a:t>
            </a:r>
            <a:r>
              <a:rPr lang="en-US" dirty="0">
                <a:latin typeface="+mj-lt"/>
              </a:rPr>
              <a:t> </a:t>
            </a:r>
            <a:r>
              <a:rPr lang="en-US" b="1" dirty="0">
                <a:latin typeface="+mj-lt"/>
              </a:rPr>
              <a:t>61.02%</a:t>
            </a:r>
            <a:r>
              <a:rPr lang="en-US" dirty="0">
                <a:latin typeface="+mj-lt"/>
              </a:rPr>
              <a:t> (Dominant preference)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Regular:</a:t>
            </a:r>
            <a:r>
              <a:rPr lang="en-US" dirty="0">
                <a:latin typeface="+mj-lt"/>
              </a:rPr>
              <a:t> </a:t>
            </a:r>
            <a:r>
              <a:rPr lang="en-US" b="1" dirty="0">
                <a:latin typeface="+mj-lt"/>
              </a:rPr>
              <a:t>33%</a:t>
            </a:r>
            <a:endParaRPr lang="en-US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Others (LF/reg):</a:t>
            </a:r>
            <a:r>
              <a:rPr lang="en-US" dirty="0">
                <a:latin typeface="+mj-lt"/>
              </a:rPr>
              <a:t> Small fragmented segments.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Actionable Insight:</a:t>
            </a:r>
            <a:r>
              <a:rPr lang="en-US" dirty="0">
                <a:latin typeface="+mj-lt"/>
              </a:rPr>
              <a:t> Consumers are heavily leaning toward "Low Fat" options. Marketing campaigns should emphasize health-conscious inventory to align with this 60%+ majority.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+mj-lt"/>
            </a:endParaRPr>
          </a:p>
        </p:txBody>
      </p:sp>
      <p:sp>
        <p:nvSpPr>
          <p:cNvPr id="553" name="Google Shape;553;p66"/>
          <p:cNvSpPr txBox="1">
            <a:spLocks noGrp="1"/>
          </p:cNvSpPr>
          <p:nvPr>
            <p:ph type="title"/>
          </p:nvPr>
        </p:nvSpPr>
        <p:spPr>
          <a:xfrm>
            <a:off x="713224" y="521225"/>
            <a:ext cx="69067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+mj-lt"/>
              </a:rPr>
              <a:t>Consumer Preference – Fat Content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>
                <a:latin typeface="+mj-lt"/>
              </a:rPr>
              <a:t>Outlet Performance &amp; Size Dynamics</a:t>
            </a:r>
            <a:endParaRPr dirty="0">
              <a:latin typeface="+mj-lt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C9EF0511-6275-45CF-8281-129C2D44DD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23950" y="2154451"/>
            <a:ext cx="710565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Medium-sized Outlets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are the top performers, contributing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11.88M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(over half of total revenue).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Tier 3 Locations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show the highest sales within Medium outlets (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5.5M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High-sized Outlets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actually perform the poorest relative to their size (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~4.2M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Strategic Takeaway: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Expansion should focus on "Medium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latin typeface="+mj-lt"/>
              </a:rPr>
              <a:t>Strategic Takeaway:</a:t>
            </a:r>
            <a:endParaRPr sz="4800" dirty="0">
              <a:latin typeface="+mj-lt"/>
            </a:endParaRPr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2299499" y="2571749"/>
            <a:ext cx="4885071" cy="12911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+mj-lt"/>
              </a:rPr>
              <a:t>Expansion should focus on "Medium" sized formats in Tier 2 and Tier 3 cities rather than large-format "High" outlets.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9"/>
          <p:cNvSpPr txBox="1">
            <a:spLocks noGrp="1"/>
          </p:cNvSpPr>
          <p:nvPr>
            <p:ph type="title"/>
          </p:nvPr>
        </p:nvSpPr>
        <p:spPr>
          <a:xfrm>
            <a:off x="1718106" y="526624"/>
            <a:ext cx="5978093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4000" dirty="0">
                <a:latin typeface="+mj-lt"/>
              </a:rPr>
              <a:t>Detailed Item Analysis</a:t>
            </a:r>
            <a:endParaRPr sz="4000" dirty="0">
              <a:latin typeface="+mj-lt"/>
            </a:endParaRPr>
          </a:p>
        </p:txBody>
      </p:sp>
      <p:sp>
        <p:nvSpPr>
          <p:cNvPr id="572" name="Google Shape;572;p69"/>
          <p:cNvSpPr txBox="1">
            <a:spLocks noGrp="1"/>
          </p:cNvSpPr>
          <p:nvPr>
            <p:ph type="subTitle" idx="1"/>
          </p:nvPr>
        </p:nvSpPr>
        <p:spPr>
          <a:xfrm>
            <a:off x="1478619" y="1678506"/>
            <a:ext cx="6457065" cy="30241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>
                <a:latin typeface="+mj-lt"/>
              </a:rPr>
              <a:t>Key Highlights:</a:t>
            </a:r>
          </a:p>
          <a:p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Household Items</a:t>
            </a:r>
            <a:r>
              <a:rPr lang="en-US" dirty="0">
                <a:latin typeface="+mj-lt"/>
              </a:rPr>
              <a:t> have the highest average MRP at </a:t>
            </a:r>
            <a:r>
              <a:rPr lang="en-US" b="1" dirty="0">
                <a:latin typeface="+mj-lt"/>
              </a:rPr>
              <a:t>149.65</a:t>
            </a:r>
            <a:r>
              <a:rPr lang="en-US" dirty="0">
                <a:latin typeface="+mj-lt"/>
              </a:rPr>
              <a:t>.</a:t>
            </a:r>
          </a:p>
          <a:p>
            <a:r>
              <a:rPr lang="en-US" b="1" dirty="0">
                <a:latin typeface="+mj-lt"/>
              </a:rPr>
              <a:t>Fruits and Vegetables</a:t>
            </a:r>
            <a:r>
              <a:rPr lang="en-US" dirty="0">
                <a:latin typeface="+mj-lt"/>
              </a:rPr>
              <a:t> show consistent sales across both Low Fat</a:t>
            </a:r>
          </a:p>
          <a:p>
            <a:r>
              <a:rPr lang="en-US" dirty="0">
                <a:latin typeface="+mj-lt"/>
              </a:rPr>
              <a:t>and Regular categories.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The total average weight of items is </a:t>
            </a:r>
            <a:r>
              <a:rPr lang="en-US" b="1" dirty="0">
                <a:latin typeface="+mj-lt"/>
              </a:rPr>
              <a:t>12.86</a:t>
            </a:r>
            <a:r>
              <a:rPr lang="en-US" dirty="0">
                <a:latin typeface="+mj-lt"/>
              </a:rPr>
              <a:t>, indicating most inventory is lightweight and delivery-friendly.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0"/>
          <p:cNvSpPr txBox="1">
            <a:spLocks noGrp="1"/>
          </p:cNvSpPr>
          <p:nvPr>
            <p:ph type="title" idx="2"/>
          </p:nvPr>
        </p:nvSpPr>
        <p:spPr>
          <a:xfrm>
            <a:off x="2788120" y="473575"/>
            <a:ext cx="4206324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latin typeface="+mj-lt"/>
              </a:rPr>
              <a:t>Recommendations</a:t>
            </a:r>
            <a:endParaRPr sz="3600" dirty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E44797-4E97-4477-AB14-DF85129C7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39" y="1678813"/>
            <a:ext cx="769374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Inventory Optimization: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Increase the stock of "Low Fat" snack variants to capture the intersection of the highest-selling category and the most preferred health trait.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Geographic Focus: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Double down on Tier 3 Medium-sized outlets; they are currently the "sweet spot" for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Pricing: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Explore bundle offers for Soft Drinks (lower MRP) with Snack Foods (high sales) to increase the average transaction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Growth Opportunity: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Seafood and Starchy Foods are low volume but have high MRP; targeted promotions could boost their contribution to the bottom 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481</Words>
  <Application>Microsoft Office PowerPoint</Application>
  <PresentationFormat>On-screen Show (16:9)</PresentationFormat>
  <Paragraphs>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Lato</vt:lpstr>
      <vt:lpstr>Vidaloka</vt:lpstr>
      <vt:lpstr>Arial</vt:lpstr>
      <vt:lpstr>Montserrat</vt:lpstr>
      <vt:lpstr>Crimson Text</vt:lpstr>
      <vt:lpstr>Minimalist Business Slides XL by Slidesgo</vt:lpstr>
      <vt:lpstr>Blinkit Sales Performance Analysis</vt:lpstr>
      <vt:lpstr>Executive Summary (Key Performance Indicators)  Strong Revenue Performance with healthy Margins.</vt:lpstr>
      <vt:lpstr>Top Performing Product Categories</vt:lpstr>
      <vt:lpstr>PowerPoint Presentation</vt:lpstr>
      <vt:lpstr>PowerPoint Presentation</vt:lpstr>
      <vt:lpstr>Consumer Preference – Fat Content</vt:lpstr>
      <vt:lpstr>Outlet Performance &amp; Size Dynamics</vt:lpstr>
      <vt:lpstr>Strategic Takeaway:</vt:lpstr>
      <vt:lpstr>Detailed Item Analysis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Blinkit Sales Performance Analysis</dc:title>
  <dc:creator>Dell</dc:creator>
  <cp:lastModifiedBy>kashish shivani</cp:lastModifiedBy>
  <cp:revision>4</cp:revision>
  <dcterms:modified xsi:type="dcterms:W3CDTF">2026-02-25T07:05:10Z</dcterms:modified>
</cp:coreProperties>
</file>